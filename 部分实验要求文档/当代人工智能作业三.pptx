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57" r:id="rId5"/>
    <p:sldId id="258" r:id="rId6"/>
    <p:sldId id="262" r:id="rId7"/>
    <p:sldId id="260" r:id="rId8"/>
    <p:sldId id="259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这次作业的主题是</a:t>
            </a:r>
            <a:r>
              <a:rPr lang="en-US" altLang="zh-CN"/>
              <a:t> —— </a:t>
            </a:r>
            <a:r>
              <a:rPr lang="zh-CN" altLang="en-US"/>
              <a:t>图像分类任务。</a:t>
            </a:r>
            <a:endParaRPr lang="zh-CN" altLang="en-US"/>
          </a:p>
          <a:p>
            <a:r>
              <a:rPr lang="zh-CN" altLang="en-US"/>
              <a:t>也就是说，每位同学都要独立完成一个完整的图像分类项目。</a:t>
            </a:r>
            <a:endParaRPr lang="zh-CN" altLang="en-US"/>
          </a:p>
          <a:p>
            <a:r>
              <a:rPr lang="zh-CN" altLang="en-US"/>
              <a:t>整个流程包括四个部分：</a:t>
            </a:r>
            <a:endParaRPr lang="zh-CN" altLang="en-US"/>
          </a:p>
          <a:p>
            <a:r>
              <a:rPr lang="zh-CN" altLang="en-US"/>
              <a:t>👉</a:t>
            </a:r>
            <a:r>
              <a:rPr lang="en-US" altLang="zh-CN"/>
              <a:t> </a:t>
            </a:r>
            <a:r>
              <a:rPr lang="zh-CN" altLang="en-US"/>
              <a:t>模型设计、</a:t>
            </a:r>
            <a:endParaRPr lang="zh-CN" altLang="en-US"/>
          </a:p>
          <a:p>
            <a:r>
              <a:rPr lang="zh-CN" altLang="en-US"/>
              <a:t>👉</a:t>
            </a:r>
            <a:r>
              <a:rPr lang="en-US" altLang="zh-CN"/>
              <a:t> </a:t>
            </a:r>
            <a:r>
              <a:rPr lang="zh-CN" altLang="en-US"/>
              <a:t>模型训练、</a:t>
            </a:r>
            <a:endParaRPr lang="zh-CN" altLang="en-US"/>
          </a:p>
          <a:p>
            <a:r>
              <a:rPr lang="zh-CN" altLang="en-US"/>
              <a:t>👉</a:t>
            </a:r>
            <a:r>
              <a:rPr lang="en-US" altLang="zh-CN"/>
              <a:t> </a:t>
            </a:r>
            <a:r>
              <a:rPr lang="zh-CN" altLang="en-US"/>
              <a:t>模型评估，</a:t>
            </a:r>
            <a:endParaRPr lang="zh-CN" altLang="en-US"/>
          </a:p>
          <a:p>
            <a:r>
              <a:rPr lang="zh-CN" altLang="en-US"/>
              <a:t>👉</a:t>
            </a:r>
            <a:r>
              <a:rPr lang="en-US" altLang="zh-CN"/>
              <a:t> </a:t>
            </a:r>
            <a:r>
              <a:rPr lang="zh-CN" altLang="en-US"/>
              <a:t>以及实验报告的撰写。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作业的截止时间是：</a:t>
            </a:r>
            <a:endParaRPr lang="zh-CN" altLang="en-US"/>
          </a:p>
          <a:p>
            <a:r>
              <a:rPr lang="zh-CN" altLang="en-US"/>
              <a:t>📅</a:t>
            </a:r>
            <a:r>
              <a:rPr lang="en-US" altLang="zh-CN"/>
              <a:t> 2025 </a:t>
            </a:r>
            <a:r>
              <a:rPr lang="zh-CN" altLang="en-US"/>
              <a:t>年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月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日</a:t>
            </a:r>
            <a:r>
              <a:rPr lang="en-US" altLang="zh-CN"/>
              <a:t> </a:t>
            </a:r>
            <a:r>
              <a:rPr lang="zh-CN" altLang="en-US"/>
              <a:t>晚上</a:t>
            </a:r>
            <a:r>
              <a:rPr lang="en-US" altLang="zh-CN"/>
              <a:t> 23:59</a:t>
            </a:r>
            <a:r>
              <a:rPr lang="zh-CN" altLang="en-US"/>
              <a:t>。请同学们一定要注意时间。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完成后，请将你的作业打包压缩，发送到助教的邮箱。压缩包的命名格式请务必严格按照以下方式</a:t>
            </a:r>
            <a:r>
              <a:rPr lang="en-US" altLang="zh-CN"/>
              <a:t>，</a:t>
            </a:r>
            <a:r>
              <a:rPr lang="zh-CN" altLang="en-US"/>
              <a:t>并保持以下目录结构：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注意</a:t>
            </a:r>
            <a:r>
              <a:rPr lang="en-US" altLang="zh-CN"/>
              <a:t> </a:t>
            </a:r>
            <a:r>
              <a:rPr lang="zh-CN" altLang="en-US"/>
              <a:t>⚠</a:t>
            </a:r>
            <a:r>
              <a:rPr lang="en-US" altLang="en-US"/>
              <a:t>️</a:t>
            </a:r>
            <a:r>
              <a:rPr lang="zh-CN" altLang="en-US"/>
              <a:t>：不要上传数据集！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本次使用的数据集是</a:t>
            </a:r>
            <a:r>
              <a:rPr lang="en-US" altLang="zh-CN"/>
              <a:t>CIFAR10，</a:t>
            </a:r>
            <a:r>
              <a:rPr lang="zh-CN" altLang="en-US"/>
              <a:t>大家可以在这个网址里</a:t>
            </a:r>
            <a:r>
              <a:rPr lang="zh-CN" altLang="en-US"/>
              <a:t>看详细说明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这里提供了下载数据集的案例</a:t>
            </a:r>
            <a:r>
              <a:rPr lang="zh-CN" altLang="en-US"/>
              <a:t>代码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接下来我来介绍一下任务要求</a:t>
            </a:r>
            <a:r>
              <a:rPr lang="en-US" altLang="zh-CN"/>
              <a:t>，</a:t>
            </a:r>
            <a:r>
              <a:rPr lang="zh-CN" altLang="en-US"/>
              <a:t>首先是基础要求，这部分是所有同学都必须完成的。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</a:t>
            </a:r>
            <a:r>
              <a:rPr lang="en-US" altLang="en-US"/>
              <a:t>️</a:t>
            </a:r>
            <a:r>
              <a:rPr lang="zh-CN" altLang="en-US"/>
              <a:t>模型设计</a:t>
            </a:r>
            <a:endParaRPr lang="zh-CN" altLang="en-US"/>
          </a:p>
          <a:p>
            <a:r>
              <a:rPr lang="zh-CN" altLang="en-US"/>
              <a:t>你需要自己设计一个卷积神经网络模型（</a:t>
            </a:r>
            <a:r>
              <a:rPr lang="en-US" altLang="zh-CN"/>
              <a:t>CNN</a:t>
            </a:r>
            <a:r>
              <a:rPr lang="zh-CN" altLang="en-US"/>
              <a:t>），</a:t>
            </a:r>
            <a:endParaRPr lang="zh-CN" altLang="en-US"/>
          </a:p>
          <a:p>
            <a:r>
              <a:rPr lang="zh-CN" altLang="en-US"/>
              <a:t>框架可以使用</a:t>
            </a:r>
            <a:r>
              <a:rPr lang="en-US" altLang="zh-CN"/>
              <a:t> PyTorch </a:t>
            </a:r>
            <a:r>
              <a:rPr lang="zh-CN" altLang="en-US"/>
              <a:t>或</a:t>
            </a:r>
            <a:r>
              <a:rPr lang="en-US" altLang="zh-CN"/>
              <a:t> TensorFlow</a:t>
            </a:r>
            <a:r>
              <a:rPr lang="zh-CN" altLang="en-US"/>
              <a:t>，两者都可以。</a:t>
            </a:r>
            <a:endParaRPr lang="zh-CN" altLang="en-US"/>
          </a:p>
          <a:p>
            <a:r>
              <a:rPr lang="zh-CN" altLang="en-US"/>
              <a:t>模型结构不需要太复杂，但要能有效完成分类任务。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</a:t>
            </a:r>
            <a:r>
              <a:rPr lang="en-US" altLang="en-US"/>
              <a:t>️</a:t>
            </a:r>
            <a:r>
              <a:rPr lang="zh-CN" altLang="en-US"/>
              <a:t>数据划分</a:t>
            </a:r>
            <a:endParaRPr lang="zh-CN" altLang="en-US"/>
          </a:p>
          <a:p>
            <a:r>
              <a:rPr lang="zh-CN" altLang="en-US"/>
              <a:t>在训练过程中，你需要把训练集再划分出一部分作为验证集。</a:t>
            </a:r>
            <a:endParaRPr lang="zh-CN" altLang="en-US"/>
          </a:p>
          <a:p>
            <a:r>
              <a:rPr lang="zh-CN" altLang="en-US"/>
              <a:t>也就是说，</a:t>
            </a:r>
            <a:endParaRPr lang="zh-CN" altLang="en-US"/>
          </a:p>
          <a:p>
            <a:r>
              <a:rPr lang="zh-CN" altLang="en-US"/>
              <a:t>训练集用来训练模型参数；</a:t>
            </a:r>
            <a:endParaRPr lang="zh-CN" altLang="en-US"/>
          </a:p>
          <a:p>
            <a:r>
              <a:rPr lang="zh-CN" altLang="en-US"/>
              <a:t>验证集用来调参、判断模型是否过拟合；</a:t>
            </a:r>
            <a:endParaRPr lang="zh-CN" altLang="en-US"/>
          </a:p>
          <a:p>
            <a:r>
              <a:rPr lang="zh-CN" altLang="en-US"/>
              <a:t>最后用测试集来评估模型的最终性能。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</a:t>
            </a:r>
            <a:r>
              <a:rPr lang="en-US" altLang="en-US"/>
              <a:t>️</a:t>
            </a:r>
            <a:r>
              <a:rPr lang="zh-CN" altLang="en-US"/>
              <a:t>模型训练与优化</a:t>
            </a:r>
            <a:endParaRPr lang="zh-CN" altLang="en-US"/>
          </a:p>
          <a:p>
            <a:r>
              <a:rPr lang="zh-CN" altLang="en-US"/>
              <a:t>训练过程中可以使用一些常见的技巧，比如：</a:t>
            </a:r>
            <a:endParaRPr lang="zh-CN" altLang="en-US"/>
          </a:p>
          <a:p>
            <a:r>
              <a:rPr lang="zh-CN" altLang="en-US"/>
              <a:t>数据增强（</a:t>
            </a:r>
            <a:r>
              <a:rPr lang="en-US" altLang="zh-CN"/>
              <a:t>Data Augmentation</a:t>
            </a:r>
            <a:r>
              <a:rPr lang="zh-CN" altLang="en-US"/>
              <a:t>），例如随机裁剪、翻转、旋转等；</a:t>
            </a:r>
            <a:endParaRPr lang="zh-CN" altLang="en-US"/>
          </a:p>
          <a:p>
            <a:r>
              <a:rPr lang="zh-CN" altLang="en-US"/>
              <a:t>正则化手段，如</a:t>
            </a:r>
            <a:r>
              <a:rPr lang="en-US" altLang="zh-CN"/>
              <a:t> Dropout </a:t>
            </a:r>
            <a:r>
              <a:rPr lang="zh-CN" altLang="en-US"/>
              <a:t>或</a:t>
            </a:r>
            <a:r>
              <a:rPr lang="en-US" altLang="zh-CN"/>
              <a:t> Batch Normalization</a:t>
            </a:r>
            <a:r>
              <a:rPr lang="zh-CN" altLang="en-US"/>
              <a:t>，用来防止过拟合。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4</a:t>
            </a:r>
            <a:r>
              <a:rPr lang="en-US" altLang="en-US"/>
              <a:t>️</a:t>
            </a:r>
            <a:r>
              <a:rPr lang="zh-CN" altLang="en-US"/>
              <a:t>模型评估与可视化</a:t>
            </a:r>
            <a:endParaRPr lang="zh-CN" altLang="en-US"/>
          </a:p>
          <a:p>
            <a:r>
              <a:rPr lang="zh-CN" altLang="en-US"/>
              <a:t>最后，你需要在测试集上输出：</a:t>
            </a:r>
            <a:endParaRPr lang="zh-CN" altLang="en-US"/>
          </a:p>
          <a:p>
            <a:r>
              <a:rPr lang="zh-CN" altLang="en-US"/>
              <a:t>每个类别的准确率；</a:t>
            </a:r>
            <a:endParaRPr lang="zh-CN" altLang="en-US"/>
          </a:p>
          <a:p>
            <a:r>
              <a:rPr lang="zh-CN" altLang="en-US"/>
              <a:t>总体准确率；</a:t>
            </a:r>
            <a:endParaRPr lang="zh-CN" altLang="en-US"/>
          </a:p>
          <a:p>
            <a:r>
              <a:rPr lang="zh-CN" altLang="en-US"/>
              <a:t>以及一张</a:t>
            </a:r>
            <a:r>
              <a:rPr lang="en-US" altLang="zh-CN"/>
              <a:t> </a:t>
            </a:r>
            <a:r>
              <a:rPr lang="zh-CN" altLang="en-US"/>
              <a:t>混淆矩阵（</a:t>
            </a:r>
            <a:r>
              <a:rPr lang="en-US" altLang="zh-CN"/>
              <a:t>Confusion Matrix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zh-CN" altLang="en-US"/>
              <a:t>混淆矩阵能帮助我们直观地看出模型在哪些类别上容易混淆。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这些内容要在你的报告中展示清楚，并附上必要的图表。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🚀</a:t>
            </a:r>
            <a:r>
              <a:rPr lang="en-US" altLang="zh-CN"/>
              <a:t> </a:t>
            </a:r>
            <a:r>
              <a:rPr lang="zh-CN" altLang="en-US"/>
              <a:t>二、提升方向（选做加分项）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接下来是提升方向，也就是加分项。</a:t>
            </a:r>
            <a:endParaRPr lang="zh-CN" altLang="en-US"/>
          </a:p>
          <a:p>
            <a:r>
              <a:rPr lang="zh-CN" altLang="en-US"/>
              <a:t>能显著提升你作业的整体得分。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</a:t>
            </a:r>
            <a:r>
              <a:rPr lang="en-US" altLang="en-US"/>
              <a:t>️</a:t>
            </a:r>
            <a:r>
              <a:rPr lang="zh-CN" altLang="en-US"/>
              <a:t>模型对比实验</a:t>
            </a:r>
            <a:endParaRPr lang="zh-CN" altLang="en-US"/>
          </a:p>
          <a:p>
            <a:r>
              <a:rPr lang="zh-CN" altLang="en-US"/>
              <a:t>可以尝试对比两种不同架构，比如</a:t>
            </a:r>
            <a:endParaRPr lang="zh-CN" altLang="en-US"/>
          </a:p>
          <a:p>
            <a:r>
              <a:rPr lang="zh-CN" altLang="en-US"/>
              <a:t>自己设计的</a:t>
            </a:r>
            <a:r>
              <a:rPr lang="en-US" altLang="zh-CN"/>
              <a:t> CNN </a:t>
            </a:r>
            <a:r>
              <a:rPr lang="zh-CN" altLang="en-US"/>
              <a:t>和一个预定义网络（如</a:t>
            </a:r>
            <a:r>
              <a:rPr lang="en-US" altLang="zh-CN"/>
              <a:t> ResNet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zh-CN" altLang="en-US"/>
              <a:t>看看它们在相同数据集下的性能差异，并分析原因。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</a:t>
            </a:r>
            <a:r>
              <a:rPr lang="en-US" altLang="en-US"/>
              <a:t>️</a:t>
            </a:r>
            <a:r>
              <a:rPr lang="zh-CN" altLang="en-US"/>
              <a:t>训练过程可视化</a:t>
            </a:r>
            <a:endParaRPr lang="zh-CN" altLang="en-US"/>
          </a:p>
          <a:p>
            <a:r>
              <a:rPr lang="zh-CN" altLang="en-US"/>
              <a:t>在报告中画出</a:t>
            </a:r>
            <a:r>
              <a:rPr lang="en-US" altLang="zh-CN"/>
              <a:t> Loss </a:t>
            </a:r>
            <a:r>
              <a:rPr lang="zh-CN" altLang="en-US"/>
              <a:t>曲线</a:t>
            </a:r>
            <a:r>
              <a:rPr lang="en-US" altLang="zh-CN"/>
              <a:t> </a:t>
            </a:r>
            <a:r>
              <a:rPr lang="zh-CN" altLang="en-US"/>
              <a:t>和</a:t>
            </a:r>
            <a:r>
              <a:rPr lang="en-US" altLang="zh-CN"/>
              <a:t> Accuracy </a:t>
            </a:r>
            <a:r>
              <a:rPr lang="zh-CN" altLang="en-US"/>
              <a:t>曲线，</a:t>
            </a:r>
            <a:endParaRPr lang="zh-CN" altLang="en-US"/>
          </a:p>
          <a:p>
            <a:r>
              <a:rPr lang="zh-CN" altLang="en-US"/>
              <a:t>让助教能看到模型的训练趋势，比如是否收敛良好、是否过拟合。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</a:t>
            </a:r>
            <a:r>
              <a:rPr lang="en-US" altLang="en-US"/>
              <a:t>️</a:t>
            </a:r>
            <a:r>
              <a:rPr lang="zh-CN" altLang="en-US"/>
              <a:t>训练过程优化</a:t>
            </a:r>
            <a:endParaRPr lang="zh-CN" altLang="en-US"/>
          </a:p>
          <a:p>
            <a:r>
              <a:rPr lang="zh-CN" altLang="en-US"/>
              <a:t>可以加入一些训练策略，比如：</a:t>
            </a:r>
            <a:endParaRPr lang="zh-CN" altLang="en-US"/>
          </a:p>
          <a:p>
            <a:r>
              <a:rPr lang="zh-CN" altLang="en-US"/>
              <a:t>学习率调度器（</a:t>
            </a:r>
            <a:r>
              <a:rPr lang="en-US" altLang="zh-CN"/>
              <a:t>Learning Rate Scheduler</a:t>
            </a:r>
            <a:r>
              <a:rPr lang="zh-CN" altLang="en-US"/>
              <a:t>）；</a:t>
            </a:r>
            <a:endParaRPr lang="zh-CN" altLang="en-US"/>
          </a:p>
          <a:p>
            <a:r>
              <a:rPr lang="en-US" altLang="zh-CN"/>
              <a:t>Early Stopping</a:t>
            </a:r>
            <a:r>
              <a:rPr lang="zh-CN" altLang="en-US"/>
              <a:t>（早停）；</a:t>
            </a:r>
            <a:endParaRPr lang="zh-CN" altLang="en-US"/>
          </a:p>
          <a:p>
            <a:r>
              <a:rPr lang="zh-CN" altLang="en-US"/>
              <a:t>这些都能让模型训练更加高效和稳定。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4</a:t>
            </a:r>
            <a:r>
              <a:rPr lang="en-US" altLang="en-US"/>
              <a:t>️</a:t>
            </a:r>
            <a:r>
              <a:rPr lang="zh-CN" altLang="en-US"/>
              <a:t>误分类样本分析</a:t>
            </a:r>
            <a:endParaRPr lang="zh-CN" altLang="en-US"/>
          </a:p>
          <a:p>
            <a:r>
              <a:rPr lang="zh-CN" altLang="en-US"/>
              <a:t>最后，你还可以从测试结果中选出一些模型预测错误的样本，</a:t>
            </a:r>
            <a:endParaRPr lang="zh-CN" altLang="en-US"/>
          </a:p>
          <a:p>
            <a:r>
              <a:rPr lang="zh-CN" altLang="en-US"/>
              <a:t>在报告中展示出来，分析一下模型为什么会出错。</a:t>
            </a:r>
            <a:endParaRPr lang="zh-CN" altLang="en-US"/>
          </a:p>
          <a:p>
            <a:r>
              <a:rPr lang="zh-CN" altLang="en-US"/>
              <a:t>例如：是不是样本太模糊，还是模型对某些类别区分不够？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这种分析体现出你对模型行为的理解，也会得到助教的加分。</a:t>
            </a:r>
            <a:endParaRPr lang="zh-CN" altLang="en-US"/>
          </a:p>
          <a:p>
            <a:r>
              <a:rPr lang="zh-CN" altLang="en-US"/>
              <a:t>总的来说，基础部分是保证模型</a:t>
            </a:r>
            <a:r>
              <a:rPr lang="en-US" altLang="zh-CN"/>
              <a:t>“</a:t>
            </a:r>
            <a:r>
              <a:rPr lang="zh-CN" altLang="en-US"/>
              <a:t>能跑通、能评估</a:t>
            </a:r>
            <a:r>
              <a:rPr lang="en-US" altLang="zh-CN"/>
              <a:t>”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/>
              <a:t>提升部分则是展示你对模型性能的思考和改进。</a:t>
            </a:r>
            <a:endParaRPr lang="zh-CN" altLang="en-US"/>
          </a:p>
          <a:p>
            <a:r>
              <a:rPr lang="zh-CN" altLang="en-US"/>
              <a:t>建议大家：先把基础要求完整做好；如果时间允许，再挑战提升方向；报告中记得把实验设计、结果分析写清楚。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这样不仅可以拿到高分，也能真正学到深度学习项目的完整流程。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大家可以参考这个评分标准来完成作业</a:t>
            </a:r>
            <a:r>
              <a:rPr lang="en-US" altLang="zh-CN"/>
              <a:t>，</a:t>
            </a:r>
            <a:r>
              <a:rPr lang="zh-CN" altLang="en-US"/>
              <a:t>有什么问题都可以通过邮箱</a:t>
            </a:r>
            <a:r>
              <a:rPr lang="zh-CN" altLang="en-US"/>
              <a:t>问我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400" dirty="0">
                <a:effectLst/>
              </a:rPr>
              <a:t>当代人工智能作业三</a:t>
            </a:r>
            <a:r>
              <a:rPr lang="en-US" altLang="zh-CN" sz="4400" dirty="0">
                <a:effectLst/>
              </a:rPr>
              <a:t>——</a:t>
            </a:r>
            <a:r>
              <a:rPr lang="zh-CN" altLang="en-US" sz="4400" dirty="0">
                <a:effectLst/>
              </a:rPr>
              <a:t>图像分类</a:t>
            </a:r>
            <a:endParaRPr lang="zh-CN" altLang="en-US" sz="4400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</a:rPr>
              <a:t>2025</a:t>
            </a:r>
            <a:r>
              <a:rPr lang="zh-CN" altLang="en-US" dirty="0">
                <a:latin typeface="+mn-lt"/>
              </a:rPr>
              <a:t>年</a:t>
            </a:r>
            <a:r>
              <a:rPr lang="en-US" altLang="zh-CN" dirty="0">
                <a:latin typeface="+mn-lt"/>
              </a:rPr>
              <a:t>11</a:t>
            </a:r>
            <a:r>
              <a:rPr lang="zh-CN" altLang="en-US" dirty="0">
                <a:latin typeface="+mn-lt"/>
              </a:rPr>
              <a:t>月</a:t>
            </a:r>
            <a:r>
              <a:rPr lang="en-US" altLang="zh-CN" dirty="0">
                <a:latin typeface="+mn-lt"/>
              </a:rPr>
              <a:t>6</a:t>
            </a:r>
            <a:r>
              <a:rPr lang="zh-CN" altLang="en-US" dirty="0">
                <a:latin typeface="+mn-lt"/>
              </a:rPr>
              <a:t>日</a:t>
            </a:r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图像分类模型的设计与实现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372235"/>
            <a:ext cx="10515600" cy="4805045"/>
          </a:xfrm>
        </p:spPr>
        <p:txBody>
          <a:bodyPr>
            <a:normAutofit fontScale="70000"/>
          </a:bodyPr>
          <a:p>
            <a:pPr>
              <a:lnSpc>
                <a:spcPct val="150000"/>
              </a:lnSpc>
            </a:pPr>
            <a:r>
              <a:rPr lang="zh-CN" altLang="en-US"/>
              <a:t>本次作业要求同学们独立完成一个图像分类任务，包括模型设计、训练、评估与报告撰写。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u="sng">
                <a:solidFill>
                  <a:schemeClr val="accent6"/>
                </a:solidFill>
              </a:rPr>
              <a:t>提交截止时间：</a:t>
            </a:r>
            <a:r>
              <a:rPr lang="en-US" altLang="zh-CN" u="sng">
                <a:solidFill>
                  <a:schemeClr val="accent6"/>
                </a:solidFill>
              </a:rPr>
              <a:t>2025</a:t>
            </a:r>
            <a:r>
              <a:rPr lang="zh-CN" altLang="en-US" u="sng">
                <a:solidFill>
                  <a:schemeClr val="accent6"/>
                </a:solidFill>
              </a:rPr>
              <a:t>年</a:t>
            </a:r>
            <a:r>
              <a:rPr lang="en-US" altLang="zh-CN" u="sng">
                <a:solidFill>
                  <a:schemeClr val="accent6"/>
                </a:solidFill>
              </a:rPr>
              <a:t>12</a:t>
            </a:r>
            <a:r>
              <a:rPr lang="zh-CN" altLang="en-US" u="sng">
                <a:solidFill>
                  <a:schemeClr val="accent6"/>
                </a:solidFill>
              </a:rPr>
              <a:t>月</a:t>
            </a:r>
            <a:r>
              <a:rPr lang="en-US" altLang="zh-CN" u="sng">
                <a:solidFill>
                  <a:schemeClr val="accent6"/>
                </a:solidFill>
              </a:rPr>
              <a:t>3</a:t>
            </a:r>
            <a:r>
              <a:rPr lang="zh-CN" altLang="en-US" u="sng">
                <a:solidFill>
                  <a:schemeClr val="accent6"/>
                </a:solidFill>
              </a:rPr>
              <a:t>日</a:t>
            </a:r>
            <a:r>
              <a:rPr lang="en-US" altLang="zh-CN" u="sng">
                <a:solidFill>
                  <a:schemeClr val="accent6"/>
                </a:solidFill>
              </a:rPr>
              <a:t> 23:59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提交方式：提交至助教邮箱</a:t>
            </a:r>
            <a:r>
              <a:rPr lang="en-US" altLang="zh-CN"/>
              <a:t> 51285903044@stu.ecnu.edu.cn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命名格式</a:t>
            </a:r>
            <a:r>
              <a:rPr lang="en-US" altLang="zh-CN">
                <a:sym typeface="+mn-ea"/>
              </a:rPr>
              <a:t>：</a:t>
            </a:r>
            <a:r>
              <a:rPr lang="zh-CN" altLang="en-US"/>
              <a:t>学号</a:t>
            </a:r>
            <a:r>
              <a:rPr lang="en-US" altLang="zh-CN"/>
              <a:t>_</a:t>
            </a:r>
            <a:r>
              <a:rPr lang="zh-CN" altLang="en-US"/>
              <a:t>姓名</a:t>
            </a:r>
            <a:r>
              <a:rPr lang="en-US" altLang="zh-CN"/>
              <a:t>_</a:t>
            </a:r>
            <a:r>
              <a:rPr lang="zh-CN" altLang="en-US"/>
              <a:t>图像分类作业</a:t>
            </a:r>
            <a:r>
              <a:rPr lang="en-US" altLang="zh-CN"/>
              <a:t>.zip（</a:t>
            </a:r>
            <a:r>
              <a:rPr lang="zh-CN" altLang="en-US"/>
              <a:t>不要上传数据集和模型文件</a:t>
            </a:r>
            <a:r>
              <a:rPr lang="en-US" altLang="zh-CN"/>
              <a:t>！！！！！）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code/         	# </a:t>
            </a:r>
            <a:r>
              <a:rPr lang="zh-CN" altLang="en-US"/>
              <a:t>源代码文件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en-US" altLang="zh-CN"/>
              <a:t>report.pdf     # </a:t>
            </a:r>
            <a:r>
              <a:rPr lang="zh-CN" altLang="en-US"/>
              <a:t>实验报告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≤5</a:t>
            </a:r>
            <a:r>
              <a:rPr lang="zh-CN" altLang="en-US">
                <a:sym typeface="+mn-ea"/>
              </a:rPr>
              <a:t>页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en-US" altLang="zh-CN"/>
              <a:t>README.md   # </a:t>
            </a:r>
            <a:r>
              <a:rPr lang="zh-CN" altLang="en-US"/>
              <a:t>运行说明</a:t>
            </a:r>
            <a:r>
              <a:rPr lang="en-US" altLang="zh-CN"/>
              <a:t>，</a:t>
            </a:r>
            <a:r>
              <a:rPr lang="zh-CN" altLang="en-US"/>
              <a:t>能复现</a:t>
            </a:r>
            <a:r>
              <a:rPr lang="en-US" altLang="zh-CN"/>
              <a:t>！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en-US" altLang="zh-CN">
                <a:sym typeface="+mn-ea"/>
              </a:rPr>
              <a:t>requirements.txt </a:t>
            </a:r>
            <a:endParaRPr lang="zh-CN" altLang="en-US"/>
          </a:p>
          <a:p>
            <a:pPr lvl="1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数据集说明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285240"/>
            <a:ext cx="5334635" cy="3823970"/>
          </a:xfrm>
        </p:spPr>
        <p:txBody>
          <a:bodyPr>
            <a:normAutofit/>
          </a:bodyPr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1.CIFAR-10 </a:t>
            </a:r>
            <a:r>
              <a:rPr lang="en-US" altLang="zh-CN" sz="1600" i="1" u="sng"/>
              <a:t>https://www.cs.toronto.edu/~kriz/cifar.html</a:t>
            </a:r>
            <a:endParaRPr lang="en-US" altLang="zh-CN" sz="200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数据规模：</a:t>
            </a:r>
            <a:r>
              <a:rPr lang="en-US" altLang="zh-CN" sz="2000"/>
              <a:t>60,000 </a:t>
            </a:r>
            <a:r>
              <a:rPr lang="zh-CN" altLang="en-US" sz="2000"/>
              <a:t>张彩色图像（</a:t>
            </a:r>
            <a:r>
              <a:rPr lang="en-US" altLang="zh-CN" sz="2000"/>
              <a:t>32</a:t>
            </a:r>
            <a:r>
              <a:rPr lang="en-US" altLang="en-US" sz="2000"/>
              <a:t>×</a:t>
            </a:r>
            <a:r>
              <a:rPr lang="en-US" altLang="zh-CN" sz="2000"/>
              <a:t>32</a:t>
            </a:r>
            <a:r>
              <a:rPr lang="zh-CN" altLang="en-US" sz="2000"/>
              <a:t>），分为</a:t>
            </a:r>
            <a:r>
              <a:rPr lang="en-US" altLang="zh-CN" sz="2000"/>
              <a:t> 10 </a:t>
            </a:r>
            <a:r>
              <a:rPr lang="zh-CN" altLang="en-US" sz="2000"/>
              <a:t>个类别。</a:t>
            </a:r>
            <a:endParaRPr lang="zh-CN" altLang="en-US" sz="200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训练集：</a:t>
            </a:r>
            <a:r>
              <a:rPr lang="en-US" altLang="zh-CN" sz="2000"/>
              <a:t>50,000 </a:t>
            </a:r>
            <a:r>
              <a:rPr lang="zh-CN" altLang="en-US" sz="2000"/>
              <a:t>张</a:t>
            </a:r>
            <a:endParaRPr lang="zh-CN" altLang="en-US" sz="200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测试集：</a:t>
            </a:r>
            <a:r>
              <a:rPr lang="en-US" altLang="zh-CN" sz="2000"/>
              <a:t>10,000 </a:t>
            </a:r>
            <a:r>
              <a:rPr lang="zh-CN" altLang="en-US" sz="2000"/>
              <a:t>张</a:t>
            </a:r>
            <a:endParaRPr lang="zh-CN" altLang="en-US" sz="200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可通过</a:t>
            </a:r>
            <a:r>
              <a:rPr lang="en-US" altLang="zh-CN" sz="2000"/>
              <a:t>pytorch</a:t>
            </a:r>
            <a:r>
              <a:rPr lang="zh-CN" altLang="en-US" sz="2000"/>
              <a:t>下载</a:t>
            </a:r>
            <a:endParaRPr lang="zh-CN" altLang="en-US" sz="2000"/>
          </a:p>
        </p:txBody>
      </p:sp>
      <p:pic>
        <p:nvPicPr>
          <p:cNvPr id="4" name="图片 3" descr="截屏2025-11-04 13.25.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2335" y="1223645"/>
            <a:ext cx="5676900" cy="38233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25" y="554990"/>
            <a:ext cx="8002905" cy="40792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6890" y="5038725"/>
            <a:ext cx="80035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zh-CN" sz="1600"/>
              <a:t>ToTensor()</a:t>
            </a:r>
            <a:r>
              <a:rPr lang="zh-CN" altLang="en-US" sz="1600"/>
              <a:t>：把原始的</a:t>
            </a:r>
            <a:r>
              <a:rPr lang="en-US" altLang="zh-CN" sz="1600"/>
              <a:t> PIL </a:t>
            </a:r>
            <a:r>
              <a:rPr lang="zh-CN" altLang="en-US" sz="1600"/>
              <a:t>图像转为张量，并把像素值从</a:t>
            </a:r>
            <a:r>
              <a:rPr lang="en-US" altLang="zh-CN" sz="1600"/>
              <a:t> [0, 255] </a:t>
            </a:r>
            <a:r>
              <a:rPr lang="zh-CN" altLang="en-US" sz="1600"/>
              <a:t>缩放到</a:t>
            </a:r>
            <a:r>
              <a:rPr lang="en-US" altLang="zh-CN" sz="1600"/>
              <a:t> [0, 1]</a:t>
            </a:r>
            <a:r>
              <a:rPr lang="zh-CN" altLang="en-US" sz="1600"/>
              <a:t>。</a:t>
            </a:r>
            <a:endParaRPr lang="zh-CN" altLang="en-US" sz="16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zh-CN" sz="1600"/>
              <a:t>Normalize(mean, std)</a:t>
            </a:r>
            <a:r>
              <a:rPr lang="zh-CN" altLang="en-US" sz="1600"/>
              <a:t>：做归一化，使每个通道的像素分布大致在</a:t>
            </a:r>
            <a:r>
              <a:rPr lang="en-US" altLang="zh-CN" sz="1600"/>
              <a:t> [-1, 1] </a:t>
            </a:r>
            <a:r>
              <a:rPr lang="zh-CN" altLang="en-US" sz="1600"/>
              <a:t>区间，有助于模型收敛。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380" y="993140"/>
            <a:ext cx="2501265" cy="260985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8602980" y="2126615"/>
            <a:ext cx="291465" cy="2171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109855"/>
            <a:ext cx="10515600" cy="1325563"/>
          </a:xfrm>
        </p:spPr>
        <p:txBody>
          <a:bodyPr/>
          <a:p>
            <a:r>
              <a:rPr lang="zh-CN" altLang="en-US"/>
              <a:t>任务要求</a:t>
            </a:r>
            <a:r>
              <a:rPr lang="en-US" altLang="zh-CN"/>
              <a:t>—— </a:t>
            </a:r>
            <a:r>
              <a:rPr lang="zh-CN" altLang="en-US"/>
              <a:t>在实验报告中体现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103630"/>
            <a:ext cx="7314565" cy="5624195"/>
          </a:xfrm>
        </p:spPr>
        <p:txBody>
          <a:bodyPr>
            <a:normAutofit fontScale="50000"/>
          </a:bodyPr>
          <a:p>
            <a:pPr>
              <a:lnSpc>
                <a:spcPct val="150000"/>
              </a:lnSpc>
            </a:pPr>
            <a:r>
              <a:rPr lang="zh-CN" altLang="en-US" b="1"/>
              <a:t>基础要求</a:t>
            </a:r>
            <a:endParaRPr lang="zh-CN" altLang="en-US" b="1"/>
          </a:p>
          <a:p>
            <a:pPr lvl="1">
              <a:lnSpc>
                <a:spcPct val="150000"/>
              </a:lnSpc>
            </a:pPr>
            <a:r>
              <a:rPr lang="zh-CN" altLang="en-US"/>
              <a:t>设计一个</a:t>
            </a:r>
            <a:r>
              <a:rPr lang="en-US" altLang="zh-CN"/>
              <a:t> CNN </a:t>
            </a:r>
            <a:r>
              <a:rPr lang="zh-CN" altLang="en-US"/>
              <a:t>模型（可使用</a:t>
            </a:r>
            <a:r>
              <a:rPr lang="en-US" altLang="zh-CN"/>
              <a:t> PyTorch /</a:t>
            </a:r>
            <a:r>
              <a:rPr lang="en-US" altLang="zh-CN"/>
              <a:t> TensorFlow</a:t>
            </a:r>
            <a:r>
              <a:rPr lang="zh-CN" altLang="en-US"/>
              <a:t>）。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/>
              <a:t>自行划分训练集和验证集</a:t>
            </a:r>
            <a:r>
              <a:rPr lang="en-US" altLang="zh-CN"/>
              <a:t>（</a:t>
            </a:r>
            <a:r>
              <a:rPr lang="zh-CN" altLang="en-US"/>
              <a:t>训练集</a:t>
            </a:r>
            <a:r>
              <a:rPr lang="en-US" altLang="zh-CN"/>
              <a:t>-</a:t>
            </a:r>
            <a:r>
              <a:rPr lang="zh-CN" altLang="en-US"/>
              <a:t>训练</a:t>
            </a:r>
            <a:r>
              <a:rPr lang="en-US" altLang="zh-CN"/>
              <a:t>、</a:t>
            </a:r>
            <a:r>
              <a:rPr lang="zh-CN" altLang="en-US"/>
              <a:t>验证集</a:t>
            </a:r>
            <a:r>
              <a:rPr lang="en-US" altLang="zh-CN"/>
              <a:t>-</a:t>
            </a:r>
            <a:r>
              <a:rPr lang="zh-CN" altLang="en-US"/>
              <a:t>调参</a:t>
            </a:r>
            <a:r>
              <a:rPr lang="en-US" altLang="zh-CN"/>
              <a:t>），</a:t>
            </a:r>
            <a:r>
              <a:rPr lang="zh-CN" altLang="en-US"/>
              <a:t>在测试集上评估分类准确率。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/>
              <a:t>可使用数据增强（</a:t>
            </a:r>
            <a:r>
              <a:rPr lang="en-US" altLang="zh-CN"/>
              <a:t>Data Augmentation</a:t>
            </a:r>
            <a:r>
              <a:rPr lang="zh-CN" altLang="en-US"/>
              <a:t>）与正则化手段（</a:t>
            </a:r>
            <a:r>
              <a:rPr lang="en-US" altLang="zh-CN"/>
              <a:t>Dropout</a:t>
            </a:r>
            <a:r>
              <a:rPr lang="zh-CN" altLang="en-US"/>
              <a:t>、</a:t>
            </a:r>
            <a:r>
              <a:rPr lang="en-US" altLang="zh-CN"/>
              <a:t>BatchNorm</a:t>
            </a:r>
            <a:r>
              <a:rPr lang="zh-CN" altLang="en-US"/>
              <a:t>等）。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>
                <a:sym typeface="+mn-ea"/>
              </a:rPr>
              <a:t>可视化训练过程（</a:t>
            </a:r>
            <a:r>
              <a:rPr lang="en-US" altLang="zh-CN">
                <a:sym typeface="+mn-ea"/>
              </a:rPr>
              <a:t>loss/accuracy </a:t>
            </a:r>
            <a:r>
              <a:rPr lang="zh-CN" altLang="en-US">
                <a:sym typeface="+mn-ea"/>
              </a:rPr>
              <a:t>曲线）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/>
              <a:t>输出混淆矩阵与每类</a:t>
            </a:r>
            <a:r>
              <a:rPr lang="en-US" altLang="zh-CN"/>
              <a:t>&amp;</a:t>
            </a:r>
            <a:r>
              <a:rPr lang="zh-CN" altLang="en-US"/>
              <a:t>总准确率。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>
                <a:sym typeface="+mn-ea"/>
              </a:rPr>
              <a:t>报告中对模型误分类样本进行分析</a:t>
            </a:r>
            <a:endParaRPr lang="zh-CN" altLang="en-US"/>
          </a:p>
          <a:p>
            <a:pPr lvl="0">
              <a:lnSpc>
                <a:spcPct val="150000"/>
              </a:lnSpc>
            </a:pPr>
            <a:r>
              <a:rPr lang="zh-CN" altLang="en-US" b="1"/>
              <a:t>提升方向（加分）</a:t>
            </a:r>
            <a:r>
              <a:rPr lang="en-US" altLang="zh-CN" b="1"/>
              <a:t>——</a:t>
            </a:r>
            <a:r>
              <a:rPr lang="zh-CN" altLang="en-US" b="1"/>
              <a:t>模型的改进与创新</a:t>
            </a:r>
            <a:r>
              <a:rPr lang="en-US" altLang="zh-CN" b="1"/>
              <a:t>/</a:t>
            </a:r>
            <a:r>
              <a:rPr lang="zh-CN" altLang="en-US" b="1"/>
              <a:t>训练与优化策略</a:t>
            </a:r>
            <a:r>
              <a:rPr lang="en-US" altLang="zh-CN" b="1"/>
              <a:t>/</a:t>
            </a:r>
            <a:r>
              <a:rPr lang="zh-CN" altLang="en-US" b="1"/>
              <a:t>可视化与解释性分析</a:t>
            </a:r>
            <a:endParaRPr lang="zh-CN" altLang="en-US" b="1"/>
          </a:p>
          <a:p>
            <a:pPr lvl="1">
              <a:lnSpc>
                <a:spcPct val="150000"/>
              </a:lnSpc>
            </a:pPr>
            <a:r>
              <a:rPr lang="zh-CN" altLang="en-US"/>
              <a:t>可使用预训练模型</a:t>
            </a:r>
            <a:r>
              <a:rPr lang="en-US" altLang="zh-CN"/>
              <a:t>（</a:t>
            </a:r>
            <a:r>
              <a:rPr lang="zh-CN" altLang="en-US"/>
              <a:t>例如基于</a:t>
            </a:r>
            <a:r>
              <a:rPr lang="en-US" altLang="zh-CN"/>
              <a:t> ResNet</a:t>
            </a:r>
            <a:r>
              <a:rPr lang="zh-CN" altLang="en-US"/>
              <a:t>、</a:t>
            </a:r>
            <a:r>
              <a:rPr lang="en-US" altLang="zh-CN"/>
              <a:t>VGG</a:t>
            </a:r>
            <a:r>
              <a:rPr lang="zh-CN" altLang="en-US"/>
              <a:t>、</a:t>
            </a:r>
            <a:r>
              <a:rPr lang="en-US" altLang="zh-CN"/>
              <a:t>MobileNet</a:t>
            </a:r>
            <a:r>
              <a:rPr lang="zh-CN" altLang="en-US"/>
              <a:t>、</a:t>
            </a:r>
            <a:r>
              <a:rPr lang="en-US" altLang="zh-CN"/>
              <a:t>ViT </a:t>
            </a:r>
            <a:r>
              <a:rPr lang="zh-CN" altLang="en-US"/>
              <a:t>等模型进行微调</a:t>
            </a:r>
            <a:r>
              <a:rPr lang="en-US" altLang="zh-CN"/>
              <a:t>）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zh-CN" altLang="en-US">
                <a:sym typeface="+mn-ea"/>
              </a:rPr>
              <a:t>对比不同架构模型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zh-CN" altLang="en-US"/>
              <a:t>引入注意力机制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/>
              <a:t>使用学习率调度、早停等优化训练过程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>
                <a:sym typeface="+mn-ea"/>
              </a:rPr>
              <a:t>还可以探索</a:t>
            </a:r>
            <a:r>
              <a:rPr lang="zh-CN" altLang="en-US"/>
              <a:t>数据增强策略</a:t>
            </a:r>
            <a:r>
              <a:rPr lang="en-US" altLang="zh-CN"/>
              <a:t>，</a:t>
            </a:r>
            <a:r>
              <a:rPr lang="zh-CN" altLang="en-US"/>
              <a:t>对比不同增强方式对性能的影响。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/>
              <a:t>改进损失函数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/>
              <a:t>模型可解释性分析</a:t>
            </a:r>
            <a:r>
              <a:rPr lang="en-US" altLang="zh-CN"/>
              <a:t>，</a:t>
            </a:r>
            <a:r>
              <a:rPr lang="zh-CN" altLang="en-US"/>
              <a:t>用</a:t>
            </a:r>
            <a:r>
              <a:rPr lang="en-US" altLang="zh-CN"/>
              <a:t> Grad-CAM</a:t>
            </a:r>
            <a:r>
              <a:rPr lang="zh-CN" altLang="en-US"/>
              <a:t>、</a:t>
            </a:r>
            <a:r>
              <a:rPr lang="en-US" altLang="zh-CN"/>
              <a:t>CAM</a:t>
            </a:r>
            <a:r>
              <a:rPr lang="zh-CN" altLang="en-US"/>
              <a:t>、或特征图可视化</a:t>
            </a:r>
            <a:r>
              <a:rPr lang="zh-CN" altLang="en-US"/>
              <a:t>等，展示模型关注的区域。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/>
              <a:t>……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评分</a:t>
            </a:r>
            <a:r>
              <a:rPr lang="zh-CN" altLang="en-US"/>
              <a:t>标准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94205" y="1458595"/>
          <a:ext cx="8403590" cy="61607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06900"/>
                <a:gridCol w="1254125"/>
                <a:gridCol w="2742565"/>
              </a:tblGrid>
              <a:tr h="360000"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solidFill>
                            <a:schemeClr val="bg1"/>
                          </a:solidFill>
                        </a:rPr>
                        <a:t>项目</a:t>
                      </a:r>
                      <a:endParaRPr lang="zh-CN" altLang="en-US" sz="110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 anchorCtr="0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solidFill>
                            <a:schemeClr val="bg1"/>
                          </a:solidFill>
                        </a:rPr>
                        <a:t>权重</a:t>
                      </a:r>
                      <a:endParaRPr lang="zh-CN" altLang="en-US" sz="110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 anchorCtr="0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solidFill>
                            <a:schemeClr val="bg1"/>
                          </a:solidFill>
                        </a:rPr>
                        <a:t>评分细则</a:t>
                      </a:r>
                      <a:endParaRPr lang="zh-CN" altLang="en-US" sz="110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 anchorCtr="0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1. </a:t>
                      </a:r>
                      <a:r>
                        <a:rPr lang="zh-CN" altLang="en-US" sz="1100"/>
                        <a:t>代码实现（</a:t>
                      </a:r>
                      <a:r>
                        <a:rPr lang="en-US" altLang="zh-CN" sz="1100"/>
                        <a:t>24</a:t>
                      </a:r>
                      <a:r>
                        <a:rPr lang="zh-CN" altLang="en-US" sz="1100"/>
                        <a:t>分）</a:t>
                      </a:r>
                      <a:endParaRPr lang="zh-CN" altLang="en-US" sz="1100"/>
                    </a:p>
                  </a:txBody>
                  <a:tcPr marL="45720" marR="4572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 marL="45720" marR="4572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 marL="45720" marR="4572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- </a:t>
                      </a:r>
                      <a:r>
                        <a:rPr lang="zh-CN" altLang="en-US" sz="1100"/>
                        <a:t>模型结构合理、实现完整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8</a:t>
                      </a:r>
                      <a:endParaRPr lang="en-US" altLang="zh-CN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能正确构建并运行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</a:tr>
              <a:tr h="360045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- </a:t>
                      </a:r>
                      <a:r>
                        <a:rPr lang="zh-CN" altLang="en-US" sz="1100"/>
                        <a:t>训练过程规范（含数据加载、训练循环、验证评估）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8</a:t>
                      </a:r>
                      <a:endParaRPr lang="en-US" altLang="zh-CN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逻辑清晰，结构规范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- </a:t>
                      </a:r>
                      <a:r>
                        <a:rPr lang="zh-CN" altLang="en-US" sz="1100"/>
                        <a:t>代码规范（注释清晰、无冗余、结果可复现）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8</a:t>
                      </a:r>
                      <a:endParaRPr lang="en-US" altLang="zh-CN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提供</a:t>
                      </a:r>
                      <a:r>
                        <a:rPr lang="en-US" altLang="zh-CN" sz="1100"/>
                        <a:t>README</a:t>
                      </a:r>
                      <a:r>
                        <a:rPr lang="zh-CN" altLang="en-US" sz="1100"/>
                        <a:t>运行说明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</a:tr>
              <a:tr h="36576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2. </a:t>
                      </a:r>
                      <a:r>
                        <a:rPr lang="zh-CN" altLang="en-US" sz="1100"/>
                        <a:t>模型性能（</a:t>
                      </a:r>
                      <a:r>
                        <a:rPr lang="en-US" altLang="zh-CN" sz="1100"/>
                        <a:t>16</a:t>
                      </a:r>
                      <a:r>
                        <a:rPr lang="zh-CN" altLang="en-US" sz="1100"/>
                        <a:t>分）</a:t>
                      </a:r>
                      <a:endParaRPr lang="zh-CN" altLang="en-US" sz="1100"/>
                    </a:p>
                  </a:txBody>
                  <a:tcPr marL="45720" marR="4572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100"/>
                    </a:p>
                  </a:txBody>
                  <a:tcPr marL="45720" marR="4572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100"/>
                        <a:t>准确率作为判断依据</a:t>
                      </a:r>
                      <a:r>
                        <a:rPr lang="en-US" altLang="zh-CN" sz="1100"/>
                        <a:t>，</a:t>
                      </a:r>
                      <a:r>
                        <a:rPr lang="zh-CN" altLang="en-US" sz="1100"/>
                        <a:t>务必在报告中</a:t>
                      </a:r>
                      <a:r>
                        <a:rPr lang="zh-CN" altLang="en-US" sz="1100"/>
                        <a:t>体现</a:t>
                      </a:r>
                      <a:endParaRPr lang="zh-CN" altLang="en-US" sz="1100"/>
                    </a:p>
                  </a:txBody>
                  <a:tcPr marL="45720" marR="4572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3. </a:t>
                      </a:r>
                      <a:r>
                        <a:rPr lang="zh-CN" altLang="en-US" sz="1100"/>
                        <a:t>实验报告（</a:t>
                      </a:r>
                      <a:r>
                        <a:rPr lang="en-US" altLang="zh-CN" sz="1100"/>
                        <a:t>40</a:t>
                      </a:r>
                      <a:r>
                        <a:rPr lang="zh-CN" altLang="en-US" sz="1100"/>
                        <a:t>分）</a:t>
                      </a:r>
                      <a:endParaRPr lang="zh-CN" altLang="en-US" sz="1100"/>
                    </a:p>
                  </a:txBody>
                  <a:tcPr marL="45720" marR="4572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 marL="45720" marR="4572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 marL="45720" marR="4572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- </a:t>
                      </a:r>
                      <a:r>
                        <a:rPr lang="zh-CN" altLang="en-US" sz="1100"/>
                        <a:t>报告结构完整，条理清晰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10</a:t>
                      </a:r>
                      <a:endParaRPr lang="en-US" altLang="zh-CN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章节齐全，逻辑流畅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- </a:t>
                      </a:r>
                      <a:r>
                        <a:rPr lang="zh-CN" altLang="en-US" sz="1100"/>
                        <a:t>有对模型原理、实验设置的说明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10</a:t>
                      </a:r>
                      <a:endParaRPr lang="en-US" altLang="zh-CN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参数、优化方法等说明充分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- </a:t>
                      </a:r>
                      <a:r>
                        <a:rPr lang="zh-CN" altLang="en-US" sz="1100"/>
                        <a:t>有结果分析、</a:t>
                      </a:r>
                      <a:r>
                        <a:rPr lang="zh-CN" altLang="en-US" sz="1100"/>
                        <a:t>可视化图表展示与误差讨论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10</a:t>
                      </a:r>
                      <a:endParaRPr lang="en-US" altLang="zh-CN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包含曲线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混淆矩阵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- </a:t>
                      </a:r>
                      <a:r>
                        <a:rPr lang="zh-CN" altLang="en-US" sz="1100"/>
                        <a:t>有独立思考（如改进方案或对比实验）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10</a:t>
                      </a:r>
                      <a:endParaRPr lang="en-US" altLang="zh-CN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能体现理解与反思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4. </a:t>
                      </a:r>
                      <a:r>
                        <a:rPr lang="zh-CN" altLang="en-US" sz="1100"/>
                        <a:t>创新（</a:t>
                      </a:r>
                      <a:r>
                        <a:rPr lang="en-US" altLang="zh-CN" sz="1100"/>
                        <a:t>20</a:t>
                      </a:r>
                      <a:r>
                        <a:rPr lang="zh-CN" altLang="en-US" sz="1100"/>
                        <a:t>分）</a:t>
                      </a:r>
                      <a:endParaRPr lang="zh-CN" altLang="en-US" sz="1100"/>
                    </a:p>
                  </a:txBody>
                  <a:tcPr marL="45720" marR="4572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 marL="45720" marR="4572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 marL="45720" marR="4572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- </a:t>
                      </a:r>
                      <a:r>
                        <a:rPr lang="zh-CN" altLang="en-US" sz="1100"/>
                        <a:t>数据增强</a:t>
                      </a:r>
                      <a:r>
                        <a:rPr lang="en-US" altLang="zh-CN" sz="1100"/>
                        <a:t>、</a:t>
                      </a:r>
                      <a:r>
                        <a:rPr lang="zh-CN" altLang="en-US" sz="1100"/>
                        <a:t>模型创新、优化技巧等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20</a:t>
                      </a:r>
                      <a:endParaRPr lang="en-US" altLang="zh-CN" sz="1100"/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体现在实验报告中</a:t>
                      </a:r>
                      <a:r>
                        <a:rPr lang="en-US" altLang="zh-CN" sz="1100"/>
                        <a:t>，</a:t>
                      </a:r>
                      <a:r>
                        <a:rPr lang="zh-CN" altLang="en-US" sz="1100"/>
                        <a:t>由助教酌情加分</a:t>
                      </a:r>
                      <a:endParaRPr lang="zh-CN" altLang="en-US" sz="1100"/>
                    </a:p>
                  </a:txBody>
                  <a:tcPr marL="45720" marR="4572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61*690"/>
  <p:tag name="TABLE_ENDDRAG_RECT" val="160*41*661*69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1225</Words>
  <Application>WPS 演示</Application>
  <PresentationFormat>宽屏</PresentationFormat>
  <Paragraphs>112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Calibri</vt:lpstr>
      <vt:lpstr>微软雅黑</vt:lpstr>
      <vt:lpstr>Arial Unicode MS</vt:lpstr>
      <vt:lpstr>WPS</vt:lpstr>
      <vt:lpstr>当代人工智能作业三——图像分类</vt:lpstr>
      <vt:lpstr>图像分类模型的设计与实现</vt:lpstr>
      <vt:lpstr>数据集说明</vt:lpstr>
      <vt:lpstr>PowerPoint 演示文稿</vt:lpstr>
      <vt:lpstr>任务要求—— 在实验报告中体现</vt:lpstr>
      <vt:lpstr>评分标准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赵艺博</cp:lastModifiedBy>
  <cp:revision>94</cp:revision>
  <dcterms:created xsi:type="dcterms:W3CDTF">2025-11-04T06:28:00Z</dcterms:created>
  <dcterms:modified xsi:type="dcterms:W3CDTF">2025-11-06T02:04:08Z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B6240FCC0C7F43EEBA344C267ADDF672_13</vt:lpwstr>
  </property>
</Properties>
</file>